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2" d="100"/>
          <a:sy n="62" d="100"/>
        </p:scale>
        <p:origin x="10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04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37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88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26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68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5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16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252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87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77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12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57980-DBCF-4700-8EC9-FA1126F0B70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6541AEA-6A04-4AE1-9789-C4834C45F34D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22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3A2C-A575-204F-C6E8-FFCB5733A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9"/>
            <a:ext cx="8637073" cy="5114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61B23-CB95-6EE6-2EAE-69EF86875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1255102"/>
            <a:ext cx="8637072" cy="325372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NAME-RANA RIYA </a:t>
            </a:r>
          </a:p>
          <a:p>
            <a:r>
              <a:rPr lang="en-US" dirty="0"/>
              <a:t>ENROLLMENT -246150332056</a:t>
            </a:r>
          </a:p>
          <a:p>
            <a:r>
              <a:rPr lang="en-US" dirty="0"/>
              <a:t>COLLEGE NAME-GIRLS POLYTHENIC FOR GIRLS</a:t>
            </a:r>
          </a:p>
          <a:p>
            <a:r>
              <a:rPr lang="en-US" dirty="0"/>
              <a:t>BRANCH AND YEAR-ICT AND  2026</a:t>
            </a:r>
          </a:p>
          <a:p>
            <a:r>
              <a:rPr lang="en-US" dirty="0"/>
              <a:t>BRANCH CODE -32</a:t>
            </a:r>
          </a:p>
          <a:p>
            <a:r>
              <a:rPr lang="en-US" dirty="0"/>
              <a:t>GENDER-FEMALE</a:t>
            </a:r>
          </a:p>
          <a:p>
            <a:r>
              <a:rPr lang="en-US" dirty="0"/>
              <a:t>REGISTERED MAIL ID-ranariya2802@gmail.com</a:t>
            </a:r>
          </a:p>
          <a:p>
            <a:r>
              <a:rPr lang="en-US" dirty="0"/>
              <a:t>CONTACT NUMBER-9978892932</a:t>
            </a:r>
            <a:endParaRPr lang="en-IN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A990DD09-1492-0AF8-7E1F-48FFD73FAF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3730348"/>
                  </p:ext>
                </p:extLst>
              </p:nvPr>
            </p:nvGraphicFramePr>
            <p:xfrm>
              <a:off x="-3688080" y="514350"/>
              <a:ext cx="3048000" cy="1714500"/>
            </p:xfrm>
            <a:graphic>
              <a:graphicData uri="http://schemas.microsoft.com/office/powerpoint/2016/slidezoom">
                <pslz:sldZm>
                  <pslz:sldZmObj sldId="256" cId="2119462903">
                    <pslz:zmPr id="{E6A9C6AA-8726-4663-A14F-D46C95FBA4A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990DD09-1492-0AF8-7E1F-48FFD73FAF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3688080" y="51435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7AB188D-834E-35F4-951C-E8EC7B798B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7854"/>
            <a:ext cx="2697480" cy="2966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8A474F-C2FE-CB82-730A-37562376B7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-156210"/>
            <a:ext cx="3505200" cy="152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62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6F4A-B936-86C5-78B5-C2666A75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3AB0-98FA-1A88-4949-4088F22F6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Unified payments interface is </a:t>
            </a:r>
            <a:r>
              <a:rPr lang="en-US" dirty="0" err="1"/>
              <a:t>india</a:t>
            </a:r>
            <a:r>
              <a:rPr lang="en-US" dirty="0"/>
              <a:t> most popular digital payment system</a:t>
            </a:r>
          </a:p>
          <a:p>
            <a:r>
              <a:rPr lang="en-US" dirty="0"/>
              <a:t>It enables instant money transfer between bank accounts</a:t>
            </a:r>
          </a:p>
          <a:p>
            <a:r>
              <a:rPr lang="en-US" dirty="0"/>
              <a:t>With increasing </a:t>
            </a:r>
            <a:r>
              <a:rPr lang="en-US" dirty="0" err="1"/>
              <a:t>upi</a:t>
            </a:r>
            <a:r>
              <a:rPr lang="en-US" dirty="0"/>
              <a:t> usage cyber fraud incidents are also rising</a:t>
            </a:r>
          </a:p>
          <a:p>
            <a:r>
              <a:rPr lang="en-US" dirty="0"/>
              <a:t>Fraud detection is essential to protect users and financial institutions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5A278C-5E23-F0F8-05F9-649ED71C8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-1034877"/>
            <a:ext cx="3489960" cy="3462089"/>
          </a:xfrm>
          <a:prstGeom prst="rect">
            <a:avLst/>
          </a:prstGeom>
        </p:spPr>
      </p:pic>
      <p:pic>
        <p:nvPicPr>
          <p:cNvPr id="1026" name="Picture 2" descr="IBM SkillsBuild Workshop Onboarding Guide - Studocu">
            <a:extLst>
              <a:ext uri="{FF2B5EF4-FFF2-40B4-BE49-F238E27FC236}">
                <a16:creationId xmlns:a16="http://schemas.microsoft.com/office/drawing/2014/main" id="{74572511-B0B9-04D3-E2DD-542254E2E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0" y="17066"/>
            <a:ext cx="4476750" cy="125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90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5C58-1B02-A5CA-0A31-698DCE74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</a:t>
            </a:r>
            <a:r>
              <a:rPr lang="en-US" dirty="0" err="1"/>
              <a:t>upi</a:t>
            </a:r>
            <a:r>
              <a:rPr lang="en-US" dirty="0"/>
              <a:t> fraud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9D222-ABA0-4DCD-8BC9-51F88DE8B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is </a:t>
            </a:r>
            <a:r>
              <a:rPr lang="en-US" dirty="0" err="1"/>
              <a:t>upi</a:t>
            </a:r>
            <a:r>
              <a:rPr lang="en-US" dirty="0"/>
              <a:t> fraud?</a:t>
            </a:r>
          </a:p>
          <a:p>
            <a:r>
              <a:rPr lang="en-US" dirty="0" err="1"/>
              <a:t>Upi</a:t>
            </a:r>
            <a:r>
              <a:rPr lang="en-US" dirty="0"/>
              <a:t> fraud occurs when cybercriminals  deceive users or exploit system vulnerabilities to steal money</a:t>
            </a:r>
          </a:p>
          <a:p>
            <a:r>
              <a:rPr lang="en-US" dirty="0"/>
              <a:t>Exploit system vulnerabilities to steal money</a:t>
            </a:r>
          </a:p>
          <a:p>
            <a:r>
              <a:rPr lang="en-US" dirty="0"/>
              <a:t>Common examples</a:t>
            </a:r>
          </a:p>
          <a:p>
            <a:r>
              <a:rPr lang="en-US" dirty="0"/>
              <a:t>Phishing attacks</a:t>
            </a:r>
          </a:p>
          <a:p>
            <a:r>
              <a:rPr lang="en-US" dirty="0"/>
              <a:t>QR code scam</a:t>
            </a:r>
          </a:p>
          <a:p>
            <a:r>
              <a:rPr lang="en-US" dirty="0"/>
              <a:t>Fake payment requests</a:t>
            </a:r>
          </a:p>
          <a:p>
            <a:r>
              <a:rPr lang="en-US" dirty="0"/>
              <a:t>SIM swap fraud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A75FB-9CCB-6E9B-45EA-7156A6E11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-284336"/>
            <a:ext cx="3200400" cy="1853754"/>
          </a:xfrm>
          <a:prstGeom prst="rect">
            <a:avLst/>
          </a:prstGeom>
        </p:spPr>
      </p:pic>
      <p:pic>
        <p:nvPicPr>
          <p:cNvPr id="2050" name="Picture 2" descr="IBM SkillsBuild Workshop Onboarding Guide - Studocu">
            <a:extLst>
              <a:ext uri="{FF2B5EF4-FFF2-40B4-BE49-F238E27FC236}">
                <a16:creationId xmlns:a16="http://schemas.microsoft.com/office/drawing/2014/main" id="{984CA032-1CA4-4571-62FB-3D6719A69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1" y="0"/>
            <a:ext cx="3419355" cy="156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369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541E-9EF6-1A46-6711-626B658D6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3D13-11A1-6D3A-AF82-7FD2978C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 fraudulent </a:t>
            </a:r>
            <a:r>
              <a:rPr lang="en-US" dirty="0" err="1"/>
              <a:t>upi</a:t>
            </a:r>
            <a:r>
              <a:rPr lang="en-US" dirty="0"/>
              <a:t> transactions</a:t>
            </a:r>
          </a:p>
          <a:p>
            <a:r>
              <a:rPr lang="en-US" dirty="0"/>
              <a:t>Reduce financial losses</a:t>
            </a:r>
          </a:p>
          <a:p>
            <a:r>
              <a:rPr lang="en-US" dirty="0"/>
              <a:t>Improv </a:t>
            </a:r>
            <a:r>
              <a:rPr lang="en-US" dirty="0" err="1"/>
              <a:t>transcation</a:t>
            </a:r>
            <a:r>
              <a:rPr lang="en-US" dirty="0"/>
              <a:t> security</a:t>
            </a:r>
          </a:p>
          <a:p>
            <a:r>
              <a:rPr lang="en-US" dirty="0"/>
              <a:t>Protect users from cyber threats</a:t>
            </a:r>
          </a:p>
          <a:p>
            <a:r>
              <a:rPr lang="en-US" dirty="0"/>
              <a:t>Support banks in identifying suspicious activities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AB6CD-F199-D552-115C-B0EFE265E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-284336"/>
            <a:ext cx="3200400" cy="1853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49ADEF-DFAA-CD21-0EF9-D8119B0C1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02" y="-1"/>
            <a:ext cx="4061847" cy="156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75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B786-95D7-A3C2-1845-3364E62F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UPI fraud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D0D16-7FC9-E174-D7A3-19404B401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Phishing fraud-fake emails ,websites</a:t>
            </a:r>
          </a:p>
          <a:p>
            <a:r>
              <a:rPr lang="en-US" dirty="0"/>
              <a:t>QR code scam-fraudsters send malicious QR codes</a:t>
            </a:r>
          </a:p>
          <a:p>
            <a:r>
              <a:rPr lang="en-US" dirty="0"/>
              <a:t>Fake customer care-criminals pretend to be bank </a:t>
            </a:r>
            <a:r>
              <a:rPr lang="en-US" dirty="0" err="1"/>
              <a:t>reprentatives</a:t>
            </a:r>
            <a:endParaRPr lang="en-US" dirty="0"/>
          </a:p>
          <a:p>
            <a:r>
              <a:rPr lang="en-US" dirty="0"/>
              <a:t>Remote access app fraud-victims install apps that give attackers control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8E86D-A800-B3B5-CC64-145B54F29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97" y="-838367"/>
            <a:ext cx="3952964" cy="2858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862574-0D2B-0ED5-0CA9-9EF62BDC2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02" y="-1"/>
            <a:ext cx="4061847" cy="156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4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70F5-10A4-94CC-8161-EF910D78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Fraud detection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6B029-1F56-281A-3B12-292F7A4EA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detection-pattern analysis</a:t>
            </a:r>
          </a:p>
          <a:p>
            <a:r>
              <a:rPr lang="en-US" dirty="0"/>
              <a:t>                                                  -anomaly detection</a:t>
            </a:r>
          </a:p>
          <a:p>
            <a:r>
              <a:rPr lang="en-US" dirty="0"/>
              <a:t>Rule based detection-multiple failed attempts</a:t>
            </a:r>
          </a:p>
          <a:p>
            <a:r>
              <a:rPr lang="en-US" dirty="0"/>
              <a:t>                                      -blacklisted accounts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B6AA8-970F-0D69-C4F6-10B9005E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-284336"/>
            <a:ext cx="3200400" cy="1853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ED5405-5686-02EB-5C05-A39E3DFAB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02" y="-1"/>
            <a:ext cx="4061847" cy="156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50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6143-7EE9-2C11-9188-36BEF9217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AI in fraud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08673-13E8-3DC1-1889-F77101091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Artificial intelligence helps by-predicting fraud before financial loss occurs</a:t>
            </a:r>
          </a:p>
          <a:p>
            <a:r>
              <a:rPr lang="en-US" dirty="0"/>
              <a:t>-detecting unusual user behavior</a:t>
            </a:r>
          </a:p>
          <a:p>
            <a:r>
              <a:rPr lang="en-US" dirty="0"/>
              <a:t>Monitoring transactions in real time</a:t>
            </a:r>
          </a:p>
          <a:p>
            <a:r>
              <a:rPr lang="en-US" dirty="0"/>
              <a:t>Identifying suspicious transaction patterns</a:t>
            </a:r>
          </a:p>
          <a:p>
            <a:r>
              <a:rPr lang="en-US" dirty="0"/>
              <a:t>Benefits-faster detection , higher accuracy ,reduced false alarms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68573-BEE6-B948-AAFC-07B3B8292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-284336"/>
            <a:ext cx="3200400" cy="1853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14AE55-BE95-5AA1-5C51-5D7D20D2A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02" y="-1"/>
            <a:ext cx="4061847" cy="156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46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D618-C139-9B4E-CE12-B2E5C086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Prevention measures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8AE32-3665-5132-A7EC-D5D1C423A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Never share </a:t>
            </a:r>
            <a:r>
              <a:rPr lang="en-US" dirty="0" err="1"/>
              <a:t>otp</a:t>
            </a:r>
            <a:r>
              <a:rPr lang="en-US" dirty="0"/>
              <a:t> or </a:t>
            </a:r>
            <a:r>
              <a:rPr lang="en-US" dirty="0" err="1"/>
              <a:t>upi</a:t>
            </a:r>
            <a:r>
              <a:rPr lang="en-US" dirty="0"/>
              <a:t> pin</a:t>
            </a:r>
          </a:p>
          <a:p>
            <a:r>
              <a:rPr lang="en-US" dirty="0"/>
              <a:t>Enables transaction alerts</a:t>
            </a:r>
          </a:p>
          <a:p>
            <a:r>
              <a:rPr lang="en-US" dirty="0"/>
              <a:t>Avoid </a:t>
            </a:r>
            <a:r>
              <a:rPr lang="en-US" dirty="0" err="1"/>
              <a:t>unkown</a:t>
            </a:r>
            <a:r>
              <a:rPr lang="en-US" dirty="0"/>
              <a:t> links and QR codes</a:t>
            </a:r>
          </a:p>
          <a:p>
            <a:r>
              <a:rPr lang="en-US" dirty="0"/>
              <a:t>For banks-multi-factor </a:t>
            </a:r>
            <a:r>
              <a:rPr lang="en-US" dirty="0" err="1"/>
              <a:t>authentication,continues</a:t>
            </a:r>
            <a:r>
              <a:rPr lang="en-US" dirty="0"/>
              <a:t> </a:t>
            </a:r>
            <a:r>
              <a:rPr lang="en-US" dirty="0" err="1"/>
              <a:t>monitoring,fraud</a:t>
            </a:r>
            <a:r>
              <a:rPr lang="en-US" dirty="0"/>
              <a:t> </a:t>
            </a:r>
            <a:r>
              <a:rPr lang="en-US" dirty="0" err="1"/>
              <a:t>aarness</a:t>
            </a:r>
            <a:r>
              <a:rPr lang="en-US" dirty="0"/>
              <a:t> campions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DAAFF6-56C0-60DB-ACE1-029E40E06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-284336"/>
            <a:ext cx="3200400" cy="1853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EE1244-4737-63C2-E155-94C8070D8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02" y="-1"/>
            <a:ext cx="4061847" cy="156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3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EA2B-C818-6254-0C98-C67573CF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 response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A57A3-04BD-184E-BB3F-117917901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Immediately contact your bank</a:t>
            </a:r>
          </a:p>
          <a:p>
            <a:r>
              <a:rPr lang="en-US" dirty="0"/>
              <a:t>Change passwords and UPI pin</a:t>
            </a:r>
          </a:p>
          <a:p>
            <a:r>
              <a:rPr lang="en-US" dirty="0"/>
              <a:t>Call the cyber helpline 1930</a:t>
            </a:r>
          </a:p>
          <a:p>
            <a:r>
              <a:rPr lang="en-US" dirty="0"/>
              <a:t>Report the fraud on the national cyber crime reporting portal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0A85F-92D4-142E-A4DD-16BBE923D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-284336"/>
            <a:ext cx="3200400" cy="1853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25CE70-CB5B-E593-6924-0184D2847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02" y="-1"/>
            <a:ext cx="4061847" cy="156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5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7EFA-8306-2433-F0B5-A1E1FA9A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challengs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3EF3-8CF4-3665-DFB5-EABE98A98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Rapidly evolving fraud techniques </a:t>
            </a:r>
          </a:p>
          <a:p>
            <a:r>
              <a:rPr lang="en-US" dirty="0"/>
              <a:t>Large </a:t>
            </a:r>
            <a:r>
              <a:rPr lang="en-US" dirty="0" err="1"/>
              <a:t>transcations</a:t>
            </a:r>
            <a:r>
              <a:rPr lang="en-US" dirty="0"/>
              <a:t> volumes</a:t>
            </a:r>
          </a:p>
          <a:p>
            <a:r>
              <a:rPr lang="en-US" dirty="0"/>
              <a:t>Privacy concerns</a:t>
            </a:r>
          </a:p>
          <a:p>
            <a:r>
              <a:rPr lang="en-US" dirty="0"/>
              <a:t>Data security requirements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263CE-360F-AA76-D20D-B3CB6ED8C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-284336"/>
            <a:ext cx="3200400" cy="1853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D8C8C-2EF7-1E62-E5DD-11A8D0045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02" y="-1"/>
            <a:ext cx="4061847" cy="156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08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4D2F-1931-66FA-78E8-0B2DC21B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3321-D465-45EF-8617-919FC775F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 </a:t>
            </a:r>
            <a:r>
              <a:rPr lang="en-US" dirty="0" err="1"/>
              <a:t>awarness</a:t>
            </a:r>
            <a:r>
              <a:rPr lang="en-US" dirty="0"/>
              <a:t> remains crucial</a:t>
            </a:r>
          </a:p>
          <a:p>
            <a:r>
              <a:rPr lang="en-US" dirty="0"/>
              <a:t>AI and machine </a:t>
            </a:r>
            <a:r>
              <a:rPr lang="en-US" dirty="0" err="1"/>
              <a:t>learnind</a:t>
            </a:r>
            <a:r>
              <a:rPr lang="en-US" dirty="0"/>
              <a:t> improve fraud detection </a:t>
            </a:r>
          </a:p>
          <a:p>
            <a:r>
              <a:rPr lang="en-US" dirty="0"/>
              <a:t>UPI fraud is major cyber security challenge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346D9-3886-1296-8CAB-522FE512B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-284336"/>
            <a:ext cx="3200400" cy="1853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EC394D-C441-F848-CAB3-9D98D2333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02" y="-1"/>
            <a:ext cx="4061847" cy="156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93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43B4-583F-2B92-1C04-C599FEDA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534696" y="106682"/>
            <a:ext cx="9520158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774A7-E79E-051D-A539-63EA05658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Bauhaus 93" panose="04030905020B02020C02" pitchFamily="82" charset="0"/>
              </a:rPr>
              <a:t>thank you</a:t>
            </a:r>
            <a:endParaRPr lang="en-IN" sz="3200" dirty="0">
              <a:latin typeface="Bauhaus 93" panose="04030905020B02020C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EE2E4-4250-181B-750F-106961913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-284336"/>
            <a:ext cx="3200400" cy="18537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B0AE62-E2EB-87EE-7725-CC9B1EBCA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02" y="-1"/>
            <a:ext cx="4061847" cy="156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0324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88</TotalTime>
  <Words>310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Bauhaus 93</vt:lpstr>
      <vt:lpstr>Palatino Linotype</vt:lpstr>
      <vt:lpstr>Gallery</vt:lpstr>
      <vt:lpstr>PowerPoint Presentation</vt:lpstr>
      <vt:lpstr>introduction</vt:lpstr>
      <vt:lpstr>Understanding upi fraud</vt:lpstr>
      <vt:lpstr>objectives</vt:lpstr>
      <vt:lpstr>Types of UPI fraud</vt:lpstr>
      <vt:lpstr>Fraud detection techniques</vt:lpstr>
      <vt:lpstr>Role of AI in fraud detection</vt:lpstr>
      <vt:lpstr>Prevention measures </vt:lpstr>
      <vt:lpstr>Incident response</vt:lpstr>
      <vt:lpstr>challengs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3</cp:revision>
  <dcterms:created xsi:type="dcterms:W3CDTF">2026-06-29T07:49:27Z</dcterms:created>
  <dcterms:modified xsi:type="dcterms:W3CDTF">2026-06-29T09:18:07Z</dcterms:modified>
</cp:coreProperties>
</file>